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89320"/>
            <a:ext cx="12191695" cy="54864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417320"/>
            <a:ext cx="502920" cy="508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97316"/>
                </a:solidFill>
                <a:latin typeface="Segoe UI"/>
              </a:rPr>
              <a:t>MÉMOIRE DE MASTER — INFORMATIQUE / GÉNIE LOGICIEL / SCIENCE DES DONNÉES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148840"/>
            <a:ext cx="106070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4200" b="1" i="0">
                <a:solidFill>
                  <a:srgbClr val="FFFFFF"/>
                </a:solidFill>
                <a:latin typeface="Segoe UI Semibold"/>
              </a:rPr>
              <a:t>Intelligent Heavy Mobile</a:t>
            </a:r>
          </a:p>
          <a:p>
            <a:pPr algn="l">
              <a:lnSpc>
                <a:spcPct val="103000"/>
              </a:lnSpc>
            </a:pPr>
            <a:r>
              <a:rPr sz="4200" b="1" i="0">
                <a:solidFill>
                  <a:srgbClr val="FFFFFF"/>
                </a:solidFill>
                <a:latin typeface="Segoe UI Semibold"/>
              </a:rPr>
              <a:t>Equipment Predictive</a:t>
            </a:r>
          </a:p>
          <a:p>
            <a:pPr algn="l">
              <a:lnSpc>
                <a:spcPct val="103000"/>
              </a:lnSpc>
            </a:pPr>
            <a:r>
              <a:rPr sz="4200" b="1" i="0">
                <a:solidFill>
                  <a:srgbClr val="FFFFFF"/>
                </a:solidFill>
                <a:latin typeface="Segoe UI Semibold"/>
              </a:rPr>
              <a:t>Maintenance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16052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1">
                <a:solidFill>
                  <a:srgbClr val="C7D2E3"/>
                </a:solidFill>
                <a:latin typeface="Segoe UI"/>
              </a:rPr>
              <a:t>Un système intelligent de maintenance prédictive pour équipements miniers lourds, fondé sur le Machine Learning, l'explicabilité (XAI) et les pratiques MLOps.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0807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[Nom et Prénom de l'étudiant·e]  •  Encadreur : [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080760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 i="0">
                <a:solidFill>
                  <a:srgbClr val="C7D2E3"/>
                </a:solidFill>
                <a:latin typeface="Segoe UI"/>
              </a:rPr>
              <a:t>2025 —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7316"/>
                </a:solidFill>
                <a:latin typeface="Segoe UI"/>
              </a:rPr>
              <a:t>CONTEXTE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1F3A"/>
                </a:solidFill>
                <a:latin typeface="Segoe UI Semibold"/>
              </a:rPr>
              <a:t>Un enjeu industriel majeur pour les sites miniers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54864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920240"/>
            <a:ext cx="3429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97380" y="2240280"/>
            <a:ext cx="914400" cy="9144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600">
                <a:solidFill>
                  <a:srgbClr val="FFFFFF"/>
                </a:solidFill>
              </a:rPr>
              <a:t>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337560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0B1F3A"/>
                </a:solidFill>
                <a:latin typeface="Segoe UI Semibold"/>
              </a:rPr>
              <a:t>Flottes lourdes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94760"/>
            <a:ext cx="28803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 i="0">
                <a:solidFill>
                  <a:srgbClr val="334155"/>
                </a:solidFill>
                <a:latin typeface="Segoe UI"/>
              </a:rPr>
              <a:t>Excavatrices, chargeuses, foreuses, camions, niveleuses, bulldozers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920240"/>
            <a:ext cx="3429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46420" y="2240280"/>
            <a:ext cx="914400" cy="9144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600">
                <a:solidFill>
                  <a:srgbClr val="FFFFFF"/>
                </a:solidFill>
              </a:rPr>
              <a:t>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3337560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0B1F3A"/>
                </a:solidFill>
                <a:latin typeface="Segoe UI Semibold"/>
              </a:rPr>
              <a:t>Arrêts non planifiés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794760"/>
            <a:ext cx="28803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 i="0">
                <a:solidFill>
                  <a:srgbClr val="334155"/>
                </a:solidFill>
                <a:latin typeface="Segoe UI"/>
              </a:rPr>
              <a:t>Un équipement immobilisé rompt toute la chaîne de production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920240"/>
            <a:ext cx="3429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95460" y="2240280"/>
            <a:ext cx="914400" cy="9144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600">
                <a:solidFill>
                  <a:srgbClr val="FFFFFF"/>
                </a:solidFill>
              </a:rPr>
              <a:t>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3337560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0B1F3A"/>
                </a:solidFill>
                <a:latin typeface="Segoe UI Semibold"/>
              </a:rPr>
              <a:t>Coûts considérables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794760"/>
            <a:ext cx="28803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 i="0">
                <a:solidFill>
                  <a:srgbClr val="334155"/>
                </a:solidFill>
                <a:latin typeface="Segoe UI"/>
              </a:rPr>
              <a:t>Pièces en urgence, mobilisation d'équipes, perte de production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48640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1">
                <a:solidFill>
                  <a:srgbClr val="64748B"/>
                </a:solidFill>
                <a:latin typeface="Segoe UI"/>
              </a:rPr>
              <a:t>Sites concernés : Kamoa Copper, Tenke Fungurume Mining, MMG Kinsevere, Ivanhoe Mines, Glencore, CMOC…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64748B"/>
                </a:solidFill>
                <a:latin typeface="Segoe UI"/>
              </a:rPr>
              <a:t>Intelligent HME Predictive Maintenance System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0" y="652881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64748B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7316"/>
                </a:solidFill>
                <a:latin typeface="Segoe UI"/>
              </a:rPr>
              <a:t>PROBLÉMATIQUE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1F3A"/>
                </a:solidFill>
                <a:latin typeface="Segoe UI Semibold"/>
              </a:rPr>
              <a:t>Deux stratégies de maintenance, deux limites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54864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74519"/>
            <a:ext cx="507492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74519"/>
            <a:ext cx="5074920" cy="5029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5074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Segoe UI Semibold"/>
              </a:rPr>
              <a:t>Maintenance corrective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606040"/>
            <a:ext cx="44805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00" b="1">
                <a:solidFill>
                  <a:srgbClr val="F97316"/>
                </a:solidFill>
                <a:latin typeface="Segoe UI"/>
              </a:rPr>
              <a:t>▸  </a:t>
            </a:r>
            <a:r>
              <a:rPr sz="1400">
                <a:solidFill>
                  <a:srgbClr val="334155"/>
                </a:solidFill>
                <a:latin typeface="Segoe UI"/>
              </a:rPr>
              <a:t>Intervention après la panne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00" b="1">
                <a:solidFill>
                  <a:srgbClr val="F97316"/>
                </a:solidFill>
                <a:latin typeface="Segoe UI"/>
              </a:rPr>
              <a:t>▸  </a:t>
            </a:r>
            <a:r>
              <a:rPr sz="1400">
                <a:solidFill>
                  <a:srgbClr val="334155"/>
                </a:solidFill>
                <a:latin typeface="Segoe UI"/>
              </a:rPr>
              <a:t>Simple à mettre en œuvre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00" b="1">
                <a:solidFill>
                  <a:srgbClr val="F97316"/>
                </a:solidFill>
                <a:latin typeface="Segoe UI"/>
              </a:rPr>
              <a:t>▸  </a:t>
            </a:r>
            <a:r>
              <a:rPr sz="1400">
                <a:solidFill>
                  <a:srgbClr val="334155"/>
                </a:solidFill>
                <a:latin typeface="Segoe UI"/>
              </a:rPr>
              <a:t>Arrêts non planifiés coûteux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00" b="1">
                <a:solidFill>
                  <a:srgbClr val="F97316"/>
                </a:solidFill>
                <a:latin typeface="Segoe UI"/>
              </a:rPr>
              <a:t>▸  </a:t>
            </a:r>
            <a:r>
              <a:rPr sz="1400">
                <a:solidFill>
                  <a:srgbClr val="334155"/>
                </a:solidFill>
                <a:latin typeface="Segoe UI"/>
              </a:rPr>
              <a:t>Risques pour la sécurité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46520" y="1874519"/>
            <a:ext cx="507492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46520" y="1874519"/>
            <a:ext cx="5074920" cy="50292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874519"/>
            <a:ext cx="5074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Segoe UI Semibold"/>
              </a:rPr>
              <a:t>Maintenance préventive systématique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2606040"/>
            <a:ext cx="44805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00" b="1">
                <a:solidFill>
                  <a:srgbClr val="F97316"/>
                </a:solidFill>
                <a:latin typeface="Segoe UI"/>
              </a:rPr>
              <a:t>▸  </a:t>
            </a:r>
            <a:r>
              <a:rPr sz="1400">
                <a:solidFill>
                  <a:srgbClr val="334155"/>
                </a:solidFill>
                <a:latin typeface="Segoe UI"/>
              </a:rPr>
              <a:t>Intervalles fixes (ex. 500h)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00" b="1">
                <a:solidFill>
                  <a:srgbClr val="F97316"/>
                </a:solidFill>
                <a:latin typeface="Segoe UI"/>
              </a:rPr>
              <a:t>▸  </a:t>
            </a:r>
            <a:r>
              <a:rPr sz="1400">
                <a:solidFill>
                  <a:srgbClr val="334155"/>
                </a:solidFill>
                <a:latin typeface="Segoe UI"/>
              </a:rPr>
              <a:t>Réduit le risque de panne brutale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00" b="1">
                <a:solidFill>
                  <a:srgbClr val="F97316"/>
                </a:solidFill>
                <a:latin typeface="Segoe UI"/>
              </a:rPr>
              <a:t>▸  </a:t>
            </a:r>
            <a:r>
              <a:rPr sz="1400">
                <a:solidFill>
                  <a:srgbClr val="334155"/>
                </a:solidFill>
                <a:latin typeface="Segoe UI"/>
              </a:rPr>
              <a:t>Remplace des pièces encore bonnes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00" b="1">
                <a:solidFill>
                  <a:srgbClr val="F97316"/>
                </a:solidFill>
                <a:latin typeface="Segoe UI"/>
              </a:rPr>
              <a:t>▸  </a:t>
            </a:r>
            <a:r>
              <a:rPr sz="1400">
                <a:solidFill>
                  <a:srgbClr val="334155"/>
                </a:solidFill>
                <a:latin typeface="Segoe UI"/>
              </a:rPr>
              <a:t>Surcoût important</a:t>
            </a:r>
          </a:p>
        </p:txBody>
      </p:sp>
      <p:sp>
        <p:nvSpPr>
          <p:cNvPr id="14" name="Oval 13"/>
          <p:cNvSpPr/>
          <p:nvPr/>
        </p:nvSpPr>
        <p:spPr>
          <a:xfrm>
            <a:off x="5605272" y="3063240"/>
            <a:ext cx="960120" cy="960120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700">
                <a:solidFill>
                  <a:srgbClr val="FFFFFF"/>
                </a:solidFill>
              </a:rPr>
              <a:t>VS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257800"/>
            <a:ext cx="10881360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257800"/>
            <a:ext cx="10149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Ni l'une ni l'autre ne tient compte de l'état réel de chaque équipement, mesuré en continu.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64748B"/>
                </a:solidFill>
                <a:latin typeface="Segoe UI"/>
              </a:rPr>
              <a:t>Intelligent HME Predictive Maintenance System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52881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64748B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7316"/>
                </a:solidFill>
                <a:latin typeface="Segoe UI"/>
              </a:rPr>
              <a:t>OBJECTIFS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1F3A"/>
                </a:solidFill>
                <a:latin typeface="Segoe UI Semibold"/>
              </a:rPr>
              <a:t>Ce que le système doit accomplir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54864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2048256" cy="4023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52728" y="2240280"/>
            <a:ext cx="822960" cy="822960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300">
                <a:solidFill>
                  <a:srgbClr val="FFFFFF"/>
                </a:solidFill>
              </a:rPr>
              <a:t>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2461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50" b="1" i="0">
                <a:solidFill>
                  <a:srgbClr val="0B1F3A"/>
                </a:solidFill>
                <a:latin typeface="Segoe UI Semibold"/>
              </a:rPr>
              <a:t>Prédire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657600"/>
            <a:ext cx="1773936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334155"/>
                </a:solidFill>
                <a:latin typeface="Segoe UI"/>
              </a:rPr>
              <a:t>le risque de panne à 7 jours, par équipement et pour toute la flotte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52928" y="1965960"/>
            <a:ext cx="2048256" cy="4023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465576" y="2240280"/>
            <a:ext cx="822960" cy="822960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300">
                <a:solidFill>
                  <a:srgbClr val="FFFFFF"/>
                </a:solidFill>
              </a:rPr>
              <a:t>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62656" y="32461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50" b="1" i="0">
                <a:solidFill>
                  <a:srgbClr val="0B1F3A"/>
                </a:solidFill>
                <a:latin typeface="Segoe UI Semibold"/>
              </a:rPr>
              <a:t>Réduire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0088" y="3657600"/>
            <a:ext cx="1773936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334155"/>
                </a:solidFill>
                <a:latin typeface="Segoe UI"/>
              </a:rPr>
              <a:t>les temps d'arrêt non planifiés en identifiant les équipements critiques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65776" y="1965960"/>
            <a:ext cx="2048256" cy="4023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678424" y="2240280"/>
            <a:ext cx="822960" cy="822960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300">
                <a:solidFill>
                  <a:srgbClr val="FFFFFF"/>
                </a:solidFill>
              </a:rPr>
              <a:t>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75504" y="32461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50" b="1" i="0">
                <a:solidFill>
                  <a:srgbClr val="0B1F3A"/>
                </a:solidFill>
                <a:latin typeface="Segoe UI Semibold"/>
              </a:rPr>
              <a:t>Expliquer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02936" y="3657600"/>
            <a:ext cx="1773936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334155"/>
                </a:solidFill>
                <a:latin typeface="Segoe UI"/>
              </a:rPr>
              <a:t>chaque prédiction avec l'IA explicable (SHAP)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78624" y="1965960"/>
            <a:ext cx="2048256" cy="4023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891272" y="2240280"/>
            <a:ext cx="822960" cy="822960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30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88352" y="32461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50" b="1" i="0">
                <a:solidFill>
                  <a:srgbClr val="0B1F3A"/>
                </a:solidFill>
                <a:latin typeface="Segoe UI Semibold"/>
              </a:rPr>
              <a:t>Visualiser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15784" y="3657600"/>
            <a:ext cx="1773936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334155"/>
                </a:solidFill>
                <a:latin typeface="Segoe UI"/>
              </a:rPr>
              <a:t>un tableau de bord interactif (disponibilité, MTBF, MTTR)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91472" y="1965960"/>
            <a:ext cx="2048256" cy="4023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104120" y="2240280"/>
            <a:ext cx="822960" cy="822960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300">
                <a:solidFill>
                  <a:srgbClr val="FFFFFF"/>
                </a:solidFill>
              </a:rPr>
              <a:t>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32461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50" b="1" i="0">
                <a:solidFill>
                  <a:srgbClr val="0B1F3A"/>
                </a:solidFill>
                <a:latin typeface="Segoe UI Semibold"/>
              </a:rPr>
              <a:t>Automatiser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28632" y="3657600"/>
            <a:ext cx="1773936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334155"/>
                </a:solidFill>
                <a:latin typeface="Segoe UI"/>
              </a:rPr>
              <a:t>tout le cycle de vie du modèle (entraînement, dérive, réentraînement)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64748B"/>
                </a:solidFill>
                <a:latin typeface="Segoe UI"/>
              </a:rPr>
              <a:t>Intelligent HME Predictive Maintenance System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52881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64748B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7316"/>
                </a:solidFill>
                <a:latin typeface="Segoe UI"/>
              </a:rPr>
              <a:t>DONNÉES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1F3A"/>
                </a:solidFill>
                <a:latin typeface="Segoe UI Semibold"/>
              </a:rPr>
              <a:t>Le jeu de données HME_Downtime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54864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2011680" cy="155448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2011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 i="0">
                <a:solidFill>
                  <a:srgbClr val="F97316"/>
                </a:solidFill>
                <a:latin typeface="Segoe UI Semibold"/>
              </a:rPr>
              <a:t>10 000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80360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FFFFFF"/>
                </a:solidFill>
                <a:latin typeface="Segoe UI"/>
              </a:rPr>
              <a:t>lectures capteurs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52928" y="2011680"/>
            <a:ext cx="2011680" cy="155448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52928" y="2194560"/>
            <a:ext cx="2011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 i="0">
                <a:solidFill>
                  <a:srgbClr val="F97316"/>
                </a:solidFill>
                <a:latin typeface="Segoe UI Semibold"/>
              </a:rPr>
              <a:t>300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44368" y="2880360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FFFFFF"/>
                </a:solidFill>
                <a:latin typeface="Segoe UI"/>
              </a:rPr>
              <a:t>équipements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65776" y="2011680"/>
            <a:ext cx="2011680" cy="155448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65776" y="2194560"/>
            <a:ext cx="2011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 i="0">
                <a:solidFill>
                  <a:srgbClr val="F97316"/>
                </a:solidFill>
                <a:latin typeface="Segoe UI Semibold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57216" y="2880360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FFFFFF"/>
                </a:solidFill>
                <a:latin typeface="Segoe UI"/>
              </a:rPr>
              <a:t>types d'équipement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78624" y="2011680"/>
            <a:ext cx="2011680" cy="155448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78624" y="2194560"/>
            <a:ext cx="2011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 i="0">
                <a:solidFill>
                  <a:srgbClr val="F97316"/>
                </a:solidFill>
                <a:latin typeface="Segoe UI Semibold"/>
              </a:rPr>
              <a:t>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70064" y="2880360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FFFFFF"/>
                </a:solidFill>
                <a:latin typeface="Segoe UI"/>
              </a:rPr>
              <a:t>colonnes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91472" y="2011680"/>
            <a:ext cx="2011680" cy="155448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91472" y="2194560"/>
            <a:ext cx="2011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 i="0">
                <a:solidFill>
                  <a:srgbClr val="F97316"/>
                </a:solidFill>
                <a:latin typeface="Segoe UI Semibold"/>
              </a:rPr>
              <a:t>24,6 %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82912" y="2880360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FFFFFF"/>
                </a:solidFill>
                <a:latin typeface="Segoe UI"/>
              </a:rPr>
              <a:t>taux de panne (cible)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93192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F3A"/>
                </a:solidFill>
                <a:latin typeface="Segoe UI Semibold"/>
              </a:rPr>
              <a:t>Schéma des variables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38912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50" b="1">
                <a:solidFill>
                  <a:srgbClr val="F97316"/>
                </a:solidFill>
                <a:latin typeface="Segoe UI"/>
              </a:rPr>
              <a:t>▸  </a:t>
            </a:r>
            <a:r>
              <a:rPr sz="1350" b="1">
                <a:solidFill>
                  <a:srgbClr val="334155"/>
                </a:solidFill>
                <a:latin typeface="Segoe UI"/>
              </a:rPr>
              <a:t>Identifiants — </a:t>
            </a:r>
            <a:r>
              <a:rPr sz="1350">
                <a:solidFill>
                  <a:srgbClr val="334155"/>
                </a:solidFill>
                <a:latin typeface="Segoe UI"/>
              </a:rPr>
              <a:t>EquipmentID, EquipmentType, Timestamp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50" b="1">
                <a:solidFill>
                  <a:srgbClr val="F97316"/>
                </a:solidFill>
                <a:latin typeface="Segoe UI"/>
              </a:rPr>
              <a:t>▸  </a:t>
            </a:r>
            <a:r>
              <a:rPr sz="1350" b="1">
                <a:solidFill>
                  <a:srgbClr val="334155"/>
                </a:solidFill>
                <a:latin typeface="Segoe UI"/>
              </a:rPr>
              <a:t>Capteurs — </a:t>
            </a:r>
            <a:r>
              <a:rPr sz="1350">
                <a:solidFill>
                  <a:srgbClr val="334155"/>
                </a:solidFill>
                <a:latin typeface="Segoe UI"/>
              </a:rPr>
              <a:t>OperatingHours, EngineTemp, HydraulicPressure, Vibration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50" b="1">
                <a:solidFill>
                  <a:srgbClr val="F97316"/>
                </a:solidFill>
                <a:latin typeface="Segoe UI"/>
              </a:rPr>
              <a:t>▸  </a:t>
            </a:r>
            <a:r>
              <a:rPr sz="1350" b="1">
                <a:solidFill>
                  <a:srgbClr val="334155"/>
                </a:solidFill>
                <a:latin typeface="Segoe UI"/>
              </a:rPr>
              <a:t>Contexte — </a:t>
            </a:r>
            <a:r>
              <a:rPr sz="1350">
                <a:solidFill>
                  <a:srgbClr val="334155"/>
                </a:solidFill>
                <a:latin typeface="Segoe UI"/>
              </a:rPr>
              <a:t>FailureMode (dernier mode de panne observé)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4389120"/>
            <a:ext cx="5394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50" b="1">
                <a:solidFill>
                  <a:srgbClr val="F97316"/>
                </a:solidFill>
                <a:latin typeface="Segoe UI"/>
              </a:rPr>
              <a:t>▸  </a:t>
            </a:r>
            <a:r>
              <a:rPr sz="1350" b="1">
                <a:solidFill>
                  <a:srgbClr val="334155"/>
                </a:solidFill>
                <a:latin typeface="Segoe UI"/>
              </a:rPr>
              <a:t>Cible — </a:t>
            </a:r>
            <a:r>
              <a:rPr sz="1350">
                <a:solidFill>
                  <a:srgbClr val="334155"/>
                </a:solidFill>
                <a:latin typeface="Segoe UI"/>
              </a:rPr>
              <a:t>FailureWithin7Days (0 = pas de panne, 1 = panne sous 7 jours)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50" b="1">
                <a:solidFill>
                  <a:srgbClr val="F97316"/>
                </a:solidFill>
                <a:latin typeface="Segoe UI"/>
              </a:rPr>
              <a:t>▸  </a:t>
            </a:r>
            <a:r>
              <a:rPr sz="1350" b="1">
                <a:solidFill>
                  <a:srgbClr val="334155"/>
                </a:solidFill>
                <a:latin typeface="Segoe UI"/>
              </a:rPr>
              <a:t>Qualité — </a:t>
            </a:r>
            <a:r>
              <a:rPr sz="1350">
                <a:solidFill>
                  <a:srgbClr val="334155"/>
                </a:solidFill>
                <a:latin typeface="Segoe UI"/>
              </a:rPr>
              <a:t>0 valeur manquante, 1 doublon supprimé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64748B"/>
                </a:solidFill>
                <a:latin typeface="Segoe UI"/>
              </a:rPr>
              <a:t>Intelligent HME Predictive Maintenance System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52881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64748B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7316"/>
                </a:solidFill>
                <a:latin typeface="Segoe UI"/>
              </a:rPr>
              <a:t>PRÉPARATION DES DONNÉES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1F3A"/>
                </a:solidFill>
                <a:latin typeface="Segoe UI Semibold"/>
              </a:rPr>
              <a:t>Ingénierie de caractéristiques (Feature Engineering)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54864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92640" y="1965960"/>
            <a:ext cx="1828800" cy="1828800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5200">
                <a:solidFill>
                  <a:srgbClr val="FFFFFF"/>
                </a:solidFill>
              </a:rPr>
              <a:t>57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0" y="388620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0B1F3A"/>
                </a:solidFill>
                <a:latin typeface="Segoe UI"/>
              </a:rPr>
              <a:t>variables dérivées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1965960"/>
            <a:ext cx="594360" cy="59436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>
                <a:solidFill>
                  <a:srgbClr val="FFFFFF"/>
                </a:solidFill>
              </a:rPr>
              <a:t>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947672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B1F3A"/>
                </a:solidFill>
                <a:latin typeface="Segoe UI Semibold"/>
              </a:rPr>
              <a:t>Temporelles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295144"/>
            <a:ext cx="7223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334155"/>
                </a:solidFill>
                <a:latin typeface="Segoe UI"/>
              </a:rPr>
              <a:t>Moyennes/écarts-types glissants, tendances, valeurs décalées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2807208"/>
            <a:ext cx="594360" cy="59436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>
                <a:solidFill>
                  <a:srgbClr val="FFFFFF"/>
                </a:solidFill>
              </a:rPr>
              <a:t>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78892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B1F3A"/>
                </a:solidFill>
                <a:latin typeface="Segoe UI Semibold"/>
              </a:rPr>
              <a:t>Scores de risque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136392"/>
            <a:ext cx="7223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334155"/>
                </a:solidFill>
                <a:latin typeface="Segoe UI"/>
              </a:rPr>
              <a:t>Risque thermique, pression, vibration, santé composite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3648456"/>
            <a:ext cx="594360" cy="59436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>
                <a:solidFill>
                  <a:srgbClr val="FFFFFF"/>
                </a:solidFill>
              </a:rPr>
              <a:t>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630168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B1F3A"/>
                </a:solidFill>
                <a:latin typeface="Segoe UI Semibold"/>
              </a:rPr>
              <a:t>Usage &amp; cycle de vie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977640"/>
            <a:ext cx="7223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334155"/>
                </a:solidFill>
                <a:latin typeface="Segoe UI"/>
              </a:rPr>
              <a:t>Âge relatif, durée de vie résiduelle estimée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489704"/>
            <a:ext cx="594360" cy="59436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>
                <a:solidFill>
                  <a:srgbClr val="FFFFFF"/>
                </a:solidFill>
              </a:rPr>
              <a:t>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4471416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B1F3A"/>
                </a:solidFill>
                <a:latin typeface="Segoe UI Semibold"/>
              </a:rPr>
              <a:t>Interactions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818888"/>
            <a:ext cx="7223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334155"/>
                </a:solidFill>
                <a:latin typeface="Segoe UI"/>
              </a:rPr>
              <a:t>Produits/ratios entre capteurs, z-scores par type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5330952"/>
            <a:ext cx="594360" cy="59436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>
                <a:solidFill>
                  <a:srgbClr val="FFFFFF"/>
                </a:solidFill>
              </a:rPr>
              <a:t>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5312664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B1F3A"/>
                </a:solidFill>
                <a:latin typeface="Segoe UI Semibold"/>
              </a:rPr>
              <a:t>Encodages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5660136"/>
            <a:ext cx="7223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334155"/>
                </a:solidFill>
                <a:latin typeface="Segoe UI"/>
              </a:rPr>
              <a:t>Type d'équipement, fréquence du mode de panne, cyclique temporel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64748B"/>
                </a:solidFill>
                <a:latin typeface="Segoe UI"/>
              </a:rPr>
              <a:t>Intelligent HME Predictive Maintenance System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52881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64748B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7316"/>
                </a:solidFill>
                <a:latin typeface="Segoe UI"/>
              </a:rPr>
              <a:t>MODÉLISATION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1F3A"/>
                </a:solidFill>
                <a:latin typeface="Segoe UI Semibold"/>
              </a:rPr>
              <a:t>Pipeline AutoML + optimisation Optuna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54864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1481328" cy="1051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1481328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0B1F3A"/>
                </a:solidFill>
                <a:latin typeface="Segoe UI"/>
              </a:rPr>
              <a:t>Random</a:t>
            </a:r>
          </a:p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0B1F3A"/>
                </a:solidFill>
                <a:latin typeface="Segoe UI"/>
              </a:rPr>
              <a:t>Forest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31136" y="1920240"/>
            <a:ext cx="1481328" cy="1051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31136" y="1920240"/>
            <a:ext cx="1481328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0B1F3A"/>
                </a:solidFill>
                <a:latin typeface="Segoe UI"/>
              </a:rPr>
              <a:t>Extra</a:t>
            </a:r>
          </a:p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0B1F3A"/>
                </a:solidFill>
                <a:latin typeface="Segoe UI"/>
              </a:rPr>
              <a:t>Trees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22192" y="1920240"/>
            <a:ext cx="1481328" cy="1051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22192" y="1920240"/>
            <a:ext cx="1481328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0B1F3A"/>
                </a:solidFill>
                <a:latin typeface="Segoe UI"/>
              </a:rPr>
              <a:t>Gradient</a:t>
            </a:r>
          </a:p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0B1F3A"/>
                </a:solidFill>
                <a:latin typeface="Segoe UI"/>
              </a:rPr>
              <a:t>Boosting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13248" y="1920240"/>
            <a:ext cx="1481328" cy="1051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13248" y="1920240"/>
            <a:ext cx="1481328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0B1F3A"/>
                </a:solidFill>
                <a:latin typeface="Segoe UI"/>
              </a:rPr>
              <a:t>HistGB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04304" y="1920240"/>
            <a:ext cx="1481328" cy="1051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04304" y="1920240"/>
            <a:ext cx="1481328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0B1F3A"/>
                </a:solidFill>
                <a:latin typeface="Segoe UI"/>
              </a:rPr>
              <a:t>XGBoost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95360" y="1920240"/>
            <a:ext cx="1481328" cy="1051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1920240"/>
            <a:ext cx="1481328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0B1F3A"/>
                </a:solidFill>
                <a:latin typeface="Segoe UI"/>
              </a:rPr>
              <a:t>LightGBM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186416" y="1920240"/>
            <a:ext cx="1481328" cy="1051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86416" y="1920240"/>
            <a:ext cx="1481328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0B1F3A"/>
                </a:solidFill>
                <a:latin typeface="Segoe UI"/>
              </a:rPr>
              <a:t>CatBoost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1546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1">
                <a:solidFill>
                  <a:srgbClr val="64748B"/>
                </a:solidFill>
                <a:latin typeface="Segoe UI"/>
              </a:rPr>
              <a:t>▼  Comparaison automatisée (score composite F1 / ROC AUC)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651760" y="3657600"/>
            <a:ext cx="6858000" cy="914400"/>
          </a:xfrm>
          <a:prstGeom prst="round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51760" y="3657600"/>
            <a:ext cx="68580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Top 3 modèles  →  Optuna : 30 essais d'optimisation bayésienne par modèle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84632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1">
                <a:solidFill>
                  <a:srgbClr val="64748B"/>
                </a:solidFill>
                <a:latin typeface="Segoe UI"/>
              </a:rPr>
              <a:t>▼  Sélection automatique du meilleur modèle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23360" y="5349240"/>
            <a:ext cx="4114800" cy="86868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23360" y="5349240"/>
            <a:ext cx="41148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Modèle actif : CatBoost (optimisé)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64748B"/>
                </a:solidFill>
                <a:latin typeface="Segoe UI"/>
              </a:rPr>
              <a:t>Intelligent HME Predictive Maintenance System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52881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64748B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7316"/>
                </a:solidFill>
                <a:latin typeface="Segoe U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1F3A"/>
                </a:solidFill>
                <a:latin typeface="Segoe UI Semibold"/>
              </a:rPr>
              <a:t>Une architecture logicielle en couches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54864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88720" y="1874519"/>
            <a:ext cx="9784080" cy="841248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1874519"/>
            <a:ext cx="329184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Segoe UI Semibold"/>
              </a:rPr>
              <a:t>Interface Web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1874519"/>
            <a:ext cx="59436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2E8F0"/>
                </a:solidFill>
                <a:latin typeface="Segoe UI"/>
              </a:rPr>
              <a:t>Flask · Bootstrap 5 · Chart.js / ApexCharts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88720" y="2834639"/>
            <a:ext cx="9784080" cy="841248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2834639"/>
            <a:ext cx="329184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Segoe UI Semibold"/>
              </a:rPr>
              <a:t>API REST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2834639"/>
            <a:ext cx="59436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2E8F0"/>
                </a:solidFill>
                <a:latin typeface="Segoe UI"/>
              </a:rPr>
              <a:t>FastAPI · JWT · Swagger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20" y="3794759"/>
            <a:ext cx="9784080" cy="841248"/>
          </a:xfrm>
          <a:prstGeom prst="round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794759"/>
            <a:ext cx="329184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Segoe UI Semibold"/>
              </a:rPr>
              <a:t>Services métier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3794759"/>
            <a:ext cx="59436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2E8F0"/>
                </a:solidFill>
                <a:latin typeface="Segoe UI"/>
              </a:rPr>
              <a:t>Prediction · Equipment · Dashboard · Explainability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88720" y="4754879"/>
            <a:ext cx="9784080" cy="841248"/>
          </a:xfrm>
          <a:prstGeom prst="roundRect">
            <a:avLst/>
          </a:prstGeom>
          <a:solidFill>
            <a:srgbClr val="C25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54480" y="4754879"/>
            <a:ext cx="329184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Segoe UI Semibold"/>
              </a:rPr>
              <a:t>Machine Learning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4754879"/>
            <a:ext cx="59436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2E8F0"/>
                </a:solidFill>
                <a:latin typeface="Segoe UI"/>
              </a:rPr>
              <a:t>AutoML · Optuna · SHAP · Registre de modèles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88720" y="5714999"/>
            <a:ext cx="9784080" cy="841248"/>
          </a:xfrm>
          <a:prstGeom prst="round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54480" y="5714999"/>
            <a:ext cx="329184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Segoe UI Semibold"/>
              </a:rPr>
              <a:t>Données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5714999"/>
            <a:ext cx="59436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2E8F0"/>
                </a:solidFill>
                <a:latin typeface="Segoe UI"/>
              </a:rPr>
              <a:t>SQLAlchemy · SQLite (12 tables)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64748B"/>
                </a:solidFill>
                <a:latin typeface="Segoe UI"/>
              </a:rPr>
              <a:t>Intelligent HME Predictive Maintenance System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52881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64748B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7316"/>
                </a:solidFill>
                <a:latin typeface="Segoe UI"/>
              </a:rPr>
              <a:t>RÉSULTATS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1F3A"/>
                </a:solidFill>
                <a:latin typeface="Segoe UI Semibold"/>
              </a:rPr>
              <a:t>Classement des modèles optimisés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54864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280160" y="2011680"/>
          <a:ext cx="96012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920240"/>
                <a:gridCol w="1645920"/>
                <a:gridCol w="1463040"/>
                <a:gridCol w="1371600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Modèle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Accuracy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F1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ROC AUC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MCC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C2540A"/>
                          </a:solidFill>
                          <a:latin typeface="Segoe UI"/>
                        </a:rPr>
                        <a:t>CatBoost (optimisé) ★</a:t>
                      </a:r>
                    </a:p>
                  </a:txBody>
                  <a:tcPr>
                    <a:solidFill>
                      <a:srgbClr val="FFF1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C2540A"/>
                          </a:solidFill>
                          <a:latin typeface="Segoe UI"/>
                        </a:rPr>
                        <a:t>0,739</a:t>
                      </a:r>
                    </a:p>
                  </a:txBody>
                  <a:tcPr>
                    <a:solidFill>
                      <a:srgbClr val="FFF1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C2540A"/>
                          </a:solidFill>
                          <a:latin typeface="Segoe UI"/>
                        </a:rPr>
                        <a:t>0,078</a:t>
                      </a:r>
                    </a:p>
                  </a:txBody>
                  <a:tcPr>
                    <a:solidFill>
                      <a:srgbClr val="FFF1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C2540A"/>
                          </a:solidFill>
                          <a:latin typeface="Segoe UI"/>
                        </a:rPr>
                        <a:t>0,511</a:t>
                      </a:r>
                    </a:p>
                  </a:txBody>
                  <a:tcPr>
                    <a:solidFill>
                      <a:srgbClr val="FFF1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C2540A"/>
                          </a:solidFill>
                          <a:latin typeface="Segoe UI"/>
                        </a:rPr>
                        <a:t>0,022</a:t>
                      </a:r>
                    </a:p>
                  </a:txBody>
                  <a:tcPr>
                    <a:solidFill>
                      <a:srgbClr val="FFF1E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4155"/>
                          </a:solidFill>
                          <a:latin typeface="Segoe UI"/>
                        </a:rPr>
                        <a:t>XGBoost (optimisé)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4155"/>
                          </a:solidFill>
                          <a:latin typeface="Segoe UI"/>
                        </a:rPr>
                        <a:t>0,746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4155"/>
                          </a:solidFill>
                          <a:latin typeface="Segoe UI"/>
                        </a:rPr>
                        <a:t>0,015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4155"/>
                          </a:solidFill>
                          <a:latin typeface="Segoe UI"/>
                        </a:rPr>
                        <a:t>0,518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4155"/>
                          </a:solidFill>
                          <a:latin typeface="Segoe UI"/>
                        </a:rPr>
                        <a:t>-0,022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4155"/>
                          </a:solidFill>
                          <a:latin typeface="Segoe UI"/>
                        </a:rPr>
                        <a:t>Extra Trees (optimisé)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4155"/>
                          </a:solidFill>
                          <a:latin typeface="Segoe UI"/>
                        </a:rPr>
                        <a:t>0,747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4155"/>
                          </a:solidFill>
                          <a:latin typeface="Segoe UI"/>
                        </a:rPr>
                        <a:t>0,027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4155"/>
                          </a:solidFill>
                          <a:latin typeface="Segoe UI"/>
                        </a:rPr>
                        <a:t>0,485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4155"/>
                          </a:solidFill>
                          <a:latin typeface="Segoe UI"/>
                        </a:rPr>
                        <a:t>0,001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1280160" y="4343400"/>
            <a:ext cx="9601200" cy="13716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4480560"/>
            <a:ext cx="88696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</a:rPr>
              <a:t>Modèle retenu : CatBoost optimisé — score composite le plus élevé (0,2945)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64748B"/>
                </a:solidFill>
                <a:latin typeface="Segoe UI"/>
              </a:rPr>
              <a:t>Intelligent HME Predictive Maintenance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2881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64748B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7316"/>
                </a:solidFill>
                <a:latin typeface="Segoe UI"/>
              </a:rPr>
              <a:t>RÉSULTAT SCIENTIFIQUE CLÉ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 Semibold"/>
              </a:rPr>
              <a:t>Une découverte, pas un échec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48463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97316"/>
                </a:solidFill>
                <a:latin typeface="Segoe UI Semibold"/>
              </a:rPr>
              <a:t>ROC AUC ≈ 0,51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0604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C7D2E3"/>
                </a:solidFill>
                <a:latin typeface="Segoe UI"/>
              </a:rPr>
              <a:t>niveau du hasard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46120"/>
            <a:ext cx="4937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F97316"/>
                </a:solidFill>
                <a:latin typeface="Segoe UI"/>
              </a:rPr>
              <a:t>▸  </a:t>
            </a:r>
            <a:r>
              <a:rPr sz="1500">
                <a:solidFill>
                  <a:srgbClr val="FFFFFF"/>
                </a:solidFill>
                <a:latin typeface="Segoe UI"/>
              </a:rPr>
              <a:t>Corrélations capteurs ↔ cible &lt; 0,02 (Pearson)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F97316"/>
                </a:solidFill>
                <a:latin typeface="Segoe UI"/>
              </a:rPr>
              <a:t>▸  </a:t>
            </a:r>
            <a:r>
              <a:rPr sz="1500">
                <a:solidFill>
                  <a:srgbClr val="FFFFFF"/>
                </a:solidFill>
                <a:latin typeface="Segoe UI"/>
              </a:rPr>
              <a:t>Information mutuelle ≈ 0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F97316"/>
                </a:solidFill>
                <a:latin typeface="Segoe UI"/>
              </a:rPr>
              <a:t>▸  </a:t>
            </a:r>
            <a:r>
              <a:rPr sz="1500">
                <a:solidFill>
                  <a:srgbClr val="FFFFFF"/>
                </a:solidFill>
                <a:latin typeface="Segoe UI"/>
              </a:rPr>
              <a:t>Confirmé par l'analyse SHAP post-entraînement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F97316"/>
                </a:solidFill>
                <a:latin typeface="Segoe UI"/>
              </a:rPr>
              <a:t>▸  </a:t>
            </a:r>
            <a:r>
              <a:rPr sz="1500">
                <a:solidFill>
                  <a:srgbClr val="FFFFFF"/>
                </a:solidFill>
                <a:latin typeface="Segoe UI"/>
              </a:rPr>
              <a:t>→ Limite du dataset synthétique, pas du pipeline</a:t>
            </a:r>
          </a:p>
        </p:txBody>
      </p:sp>
      <p:pic>
        <p:nvPicPr>
          <p:cNvPr id="8" name="Picture 7" descr="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783080"/>
            <a:ext cx="4937760" cy="439350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126480" y="1783080"/>
            <a:ext cx="4937760" cy="4393502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9CA8C0"/>
                </a:solidFill>
                <a:latin typeface="Segoe UI"/>
              </a:rPr>
              <a:t>Intelligent HME Predictive Maintenance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52881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9CA8C0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7316"/>
                </a:solidFill>
                <a:latin typeface="Segoe UI"/>
              </a:rPr>
              <a:t>EXPLICABILITÉ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1F3A"/>
                </a:solidFill>
                <a:latin typeface="Segoe UI Semibold"/>
              </a:rPr>
              <a:t>Comprendre chaque prédiction (SHAP)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54864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hap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74519"/>
            <a:ext cx="4846320" cy="460463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40080" y="1874519"/>
            <a:ext cx="4846320" cy="4604632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95160" y="201168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50" b="1">
                <a:solidFill>
                  <a:srgbClr val="F97316"/>
                </a:solidFill>
                <a:latin typeface="Segoe UI"/>
              </a:rPr>
              <a:t>▸  </a:t>
            </a:r>
            <a:r>
              <a:rPr sz="1350" b="1">
                <a:solidFill>
                  <a:srgbClr val="334155"/>
                </a:solidFill>
                <a:latin typeface="Segoe UI"/>
              </a:rPr>
              <a:t>SHAP — </a:t>
            </a:r>
            <a:r>
              <a:rPr sz="1350">
                <a:solidFill>
                  <a:srgbClr val="334155"/>
                </a:solidFill>
                <a:latin typeface="Segoe UI"/>
              </a:rPr>
              <a:t>attribue à chaque variable une contribution signée à la prédiction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50" b="1">
                <a:solidFill>
                  <a:srgbClr val="F97316"/>
                </a:solidFill>
                <a:latin typeface="Segoe UI"/>
              </a:rPr>
              <a:t>▸  </a:t>
            </a:r>
            <a:r>
              <a:rPr sz="1350" b="1">
                <a:solidFill>
                  <a:srgbClr val="334155"/>
                </a:solidFill>
                <a:latin typeface="Segoe UI"/>
              </a:rPr>
              <a:t>Pourquoi TreeExplainer ? </a:t>
            </a:r>
            <a:r>
              <a:rPr sz="1350">
                <a:solidFill>
                  <a:srgbClr val="334155"/>
                </a:solidFill>
                <a:latin typeface="Segoe UI"/>
              </a:rPr>
              <a:t>explicateur exact pour les modèles à base d'arbres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50" b="1">
                <a:solidFill>
                  <a:srgbClr val="F97316"/>
                </a:solidFill>
                <a:latin typeface="Segoe UI"/>
              </a:rPr>
              <a:t>▸  </a:t>
            </a:r>
            <a:r>
              <a:rPr sz="1350" b="1">
                <a:solidFill>
                  <a:srgbClr val="334155"/>
                </a:solidFill>
                <a:latin typeface="Segoe UI"/>
              </a:rPr>
              <a:t>En production — </a:t>
            </a:r>
            <a:r>
              <a:rPr sz="1350">
                <a:solidFill>
                  <a:srgbClr val="334155"/>
                </a:solidFill>
                <a:latin typeface="Segoe UI"/>
              </a:rPr>
              <a:t>chaque prédiction est accompagnée d'une explication en langage naturel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50" b="1">
                <a:solidFill>
                  <a:srgbClr val="F97316"/>
                </a:solidFill>
                <a:latin typeface="Segoe UI"/>
              </a:rPr>
              <a:t>▸  </a:t>
            </a:r>
            <a:r>
              <a:rPr sz="1350" b="1">
                <a:solidFill>
                  <a:srgbClr val="334155"/>
                </a:solidFill>
                <a:latin typeface="Segoe UI"/>
              </a:rPr>
              <a:t>Recommandation — </a:t>
            </a:r>
            <a:r>
              <a:rPr sz="1350">
                <a:solidFill>
                  <a:srgbClr val="334155"/>
                </a:solidFill>
                <a:latin typeface="Segoe UI"/>
              </a:rPr>
              <a:t>niveau de confiance + action de maintenance suggérée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64748B"/>
                </a:solidFill>
                <a:latin typeface="Segoe UI"/>
              </a:rPr>
              <a:t>Intelligent HME Predictive Maintenance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2881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64748B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7316"/>
                </a:solidFill>
                <a:latin typeface="Segoe UI"/>
              </a:rPr>
              <a:t>DÉMONSTRATION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1F3A"/>
                </a:solidFill>
                <a:latin typeface="Segoe UI Semibold"/>
              </a:rPr>
              <a:t>Tableau de bord &amp; équipements à risque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54864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1709928" cy="12801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920240"/>
            <a:ext cx="73152" cy="12801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057400"/>
            <a:ext cx="143560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0B1F3A"/>
                </a:solidFill>
                <a:latin typeface="Segoe UI Semibold"/>
              </a:rPr>
              <a:t>300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06040"/>
            <a:ext cx="143560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334155"/>
                </a:solidFill>
                <a:latin typeface="Segoe UI"/>
              </a:rPr>
              <a:t>Équipements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87168" y="1920240"/>
            <a:ext cx="1709928" cy="12801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487168" y="1920240"/>
            <a:ext cx="73152" cy="1280160"/>
          </a:xfrm>
          <a:prstGeom prst="rect">
            <a:avLst/>
          </a:prstGeom>
          <a:solidFill>
            <a:srgbClr val="C25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24328" y="2057400"/>
            <a:ext cx="143560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0B1F3A"/>
                </a:solidFill>
                <a:latin typeface="Segoe UI Semibold"/>
              </a:rPr>
              <a:t>2 460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24328" y="2606040"/>
            <a:ext cx="143560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334155"/>
                </a:solidFill>
                <a:latin typeface="Segoe UI"/>
              </a:rPr>
              <a:t>Pannes détectées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4256" y="1920240"/>
            <a:ext cx="1709928" cy="12801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34256" y="1920240"/>
            <a:ext cx="73152" cy="12801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71416" y="2057400"/>
            <a:ext cx="143560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0B1F3A"/>
                </a:solidFill>
                <a:latin typeface="Segoe UI Semibold"/>
              </a:rPr>
              <a:t>97,7 %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71416" y="2606040"/>
            <a:ext cx="143560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334155"/>
                </a:solidFill>
                <a:latin typeface="Segoe UI"/>
              </a:rPr>
              <a:t>Disponibilité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81344" y="1920240"/>
            <a:ext cx="1709928" cy="12801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81344" y="1920240"/>
            <a:ext cx="73152" cy="12801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18504" y="2057400"/>
            <a:ext cx="143560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0B1F3A"/>
                </a:solidFill>
                <a:latin typeface="Segoe UI Semibold"/>
              </a:rPr>
              <a:t>1 068 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18504" y="2606040"/>
            <a:ext cx="143560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334155"/>
                </a:solidFill>
                <a:latin typeface="Segoe UI"/>
              </a:rPr>
              <a:t>MTBF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28432" y="1920240"/>
            <a:ext cx="1709928" cy="12801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28432" y="1920240"/>
            <a:ext cx="73152" cy="128016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65592" y="2057400"/>
            <a:ext cx="143560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0B1F3A"/>
                </a:solidFill>
                <a:latin typeface="Segoe UI Semibold"/>
              </a:rPr>
              <a:t>25 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5592" y="2606040"/>
            <a:ext cx="143560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334155"/>
                </a:solidFill>
                <a:latin typeface="Segoe UI"/>
              </a:rPr>
              <a:t>MTTR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875520" y="1920240"/>
            <a:ext cx="1709928" cy="12801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875520" y="1920240"/>
            <a:ext cx="73152" cy="128016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12680" y="2057400"/>
            <a:ext cx="143560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0B1F3A"/>
                </a:solidFill>
                <a:latin typeface="Segoe UI Semibold"/>
              </a:rPr>
              <a:t>81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12680" y="2606040"/>
            <a:ext cx="143560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334155"/>
                </a:solidFill>
                <a:latin typeface="Segoe UI"/>
              </a:rPr>
              <a:t>Équip. critiques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352044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F3A"/>
                </a:solidFill>
                <a:latin typeface="Segoe UI Semibold"/>
              </a:rPr>
              <a:t>Page « Équipements à risque » — classement en temps réel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3977639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50" b="1">
                <a:solidFill>
                  <a:srgbClr val="F97316"/>
                </a:solidFill>
                <a:latin typeface="Segoe UI"/>
              </a:rPr>
              <a:t>▸  </a:t>
            </a:r>
            <a:r>
              <a:rPr sz="1350">
                <a:solidFill>
                  <a:srgbClr val="334155"/>
                </a:solidFill>
                <a:latin typeface="Segoe UI"/>
              </a:rPr>
              <a:t>Calcul de la probabilité de panne pour toute la flotte, sur demande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50" b="1">
                <a:solidFill>
                  <a:srgbClr val="F97316"/>
                </a:solidFill>
                <a:latin typeface="Segoe UI"/>
              </a:rPr>
              <a:t>▸  </a:t>
            </a:r>
            <a:r>
              <a:rPr sz="1350">
                <a:solidFill>
                  <a:srgbClr val="334155"/>
                </a:solidFill>
                <a:latin typeface="Segoe UI"/>
              </a:rPr>
              <a:t>Classement décroissant par probabilité, avec badge de risque (Faible / Moyen / Élevé / Critique)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50" b="1">
                <a:solidFill>
                  <a:srgbClr val="F97316"/>
                </a:solidFill>
                <a:latin typeface="Segoe UI"/>
              </a:rPr>
              <a:t>▸  </a:t>
            </a:r>
            <a:r>
              <a:rPr sz="1350">
                <a:solidFill>
                  <a:srgbClr val="334155"/>
                </a:solidFill>
                <a:latin typeface="Segoe UI"/>
              </a:rPr>
              <a:t>Génération automatique d'alertes pour les équipements critiques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64748B"/>
                </a:solidFill>
                <a:latin typeface="Segoe UI"/>
              </a:rPr>
              <a:t>Intelligent HME Predictive Maintenance System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52881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64748B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7316"/>
                </a:solidFill>
                <a:latin typeface="Segoe UI"/>
              </a:rPr>
              <a:t>MLOPS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1F3A"/>
                </a:solidFill>
                <a:latin typeface="Segoe UI Semibold"/>
              </a:rPr>
              <a:t>Cycle de vie automatisé du modèle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54864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3429000" cy="2926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97380" y="2331720"/>
            <a:ext cx="914400" cy="9144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600">
                <a:solidFill>
                  <a:srgbClr val="FFFFFF"/>
                </a:solidFill>
              </a:rPr>
              <a:t>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429000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B1F3A"/>
                </a:solidFill>
                <a:latin typeface="Segoe UI Semibold"/>
              </a:rPr>
              <a:t>Registre de modèles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86200"/>
            <a:ext cx="2880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334155"/>
                </a:solidFill>
                <a:latin typeface="Segoe UI"/>
              </a:rPr>
              <a:t>Versions tracées, une seule active à la fois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87368" y="3246120"/>
            <a:ext cx="29260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F97316"/>
                </a:solidFill>
                <a:latin typeface="Segoe U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011680"/>
            <a:ext cx="3429000" cy="2926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646420" y="2331720"/>
            <a:ext cx="914400" cy="9144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600">
                <a:solidFill>
                  <a:srgbClr val="FFFFFF"/>
                </a:solidFill>
              </a:rPr>
              <a:t>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429000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B1F3A"/>
                </a:solidFill>
                <a:latin typeface="Segoe UI Semibold"/>
              </a:rPr>
              <a:t>Détection de dérive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886200"/>
            <a:ext cx="2880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334155"/>
                </a:solidFill>
                <a:latin typeface="Segoe UI"/>
              </a:rPr>
              <a:t>PSI + test de Kolmogorov-Smirnov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36408" y="3246120"/>
            <a:ext cx="29260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F97316"/>
                </a:solidFill>
                <a:latin typeface="Segoe U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2011680"/>
            <a:ext cx="3429000" cy="2926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395460" y="2331720"/>
            <a:ext cx="914400" cy="9144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600">
                <a:solidFill>
                  <a:srgbClr val="FFFFFF"/>
                </a:solidFill>
              </a:rPr>
              <a:t>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429000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B1F3A"/>
                </a:solidFill>
                <a:latin typeface="Segoe UI Semibold"/>
              </a:rPr>
              <a:t>Réentraînement auto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886200"/>
            <a:ext cx="2880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334155"/>
                </a:solidFill>
                <a:latin typeface="Segoe UI"/>
              </a:rPr>
              <a:t>Déclenché automatiquement si dérive détectée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25780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1">
                <a:solidFill>
                  <a:srgbClr val="64748B"/>
                </a:solidFill>
                <a:latin typeface="Segoe UI"/>
              </a:rPr>
              <a:t>Alternative légère mais réellement fonctionnelle à un orchestrateur complet (Airflow)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64748B"/>
                </a:solidFill>
                <a:latin typeface="Segoe UI"/>
              </a:rPr>
              <a:t>Intelligent HME Predictive Maintenance System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52881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64748B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7316"/>
                </a:solidFill>
                <a:latin typeface="Segoe UI"/>
              </a:rPr>
              <a:t>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1F3A"/>
                </a:solidFill>
                <a:latin typeface="Segoe UI Semibold"/>
              </a:rPr>
              <a:t>Limites identifiées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54864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600" b="1">
                <a:solidFill>
                  <a:srgbClr val="F97316"/>
                </a:solidFill>
                <a:latin typeface="Segoe UI"/>
              </a:rPr>
              <a:t>▸  </a:t>
            </a:r>
            <a:r>
              <a:rPr sz="1600" b="1">
                <a:solidFill>
                  <a:srgbClr val="334155"/>
                </a:solidFill>
                <a:latin typeface="Segoe UI"/>
              </a:rPr>
              <a:t>Signal du dataset — </a:t>
            </a:r>
            <a:r>
              <a:rPr sz="1600">
                <a:solidFill>
                  <a:srgbClr val="334155"/>
                </a:solidFill>
                <a:latin typeface="Segoe UI"/>
              </a:rPr>
              <a:t>aucune corrélation exploitable entre capteurs bruts et panne dans ce jeu de données synthétique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600" b="1">
                <a:solidFill>
                  <a:srgbClr val="F97316"/>
                </a:solidFill>
                <a:latin typeface="Segoe UI"/>
              </a:rPr>
              <a:t>▸  </a:t>
            </a:r>
            <a:r>
              <a:rPr sz="1600" b="1">
                <a:solidFill>
                  <a:srgbClr val="334155"/>
                </a:solidFill>
                <a:latin typeface="Segoe UI"/>
              </a:rPr>
              <a:t>PredictedRemainingLife — </a:t>
            </a:r>
            <a:r>
              <a:rPr sz="1600">
                <a:solidFill>
                  <a:srgbClr val="334155"/>
                </a:solidFill>
                <a:latin typeface="Segoe UI"/>
              </a:rPr>
              <a:t>légère fuite d'information au niveau population, à corriger en production stricte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600" b="1">
                <a:solidFill>
                  <a:srgbClr val="F97316"/>
                </a:solidFill>
                <a:latin typeface="Segoe UI"/>
              </a:rPr>
              <a:t>▸  </a:t>
            </a:r>
            <a:r>
              <a:rPr sz="1600" b="1">
                <a:solidFill>
                  <a:srgbClr val="334155"/>
                </a:solidFill>
                <a:latin typeface="Segoe UI"/>
              </a:rPr>
              <a:t>Docker / MinIO / Airflow — </a:t>
            </a:r>
            <a:r>
              <a:rPr sz="1600">
                <a:solidFill>
                  <a:srgbClr val="334155"/>
                </a:solidFill>
                <a:latin typeface="Segoe UI"/>
              </a:rPr>
              <a:t>préparés mais non exécutés (aucun démon Docker disponible dans l'environnement de développement)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600" b="1">
                <a:solidFill>
                  <a:srgbClr val="F97316"/>
                </a:solidFill>
                <a:latin typeface="Segoe UI"/>
              </a:rPr>
              <a:t>▸  </a:t>
            </a:r>
            <a:r>
              <a:rPr sz="1600" b="1">
                <a:solidFill>
                  <a:srgbClr val="334155"/>
                </a:solidFill>
                <a:latin typeface="Segoe UI"/>
              </a:rPr>
              <a:t>Concept drift — </a:t>
            </a:r>
            <a:r>
              <a:rPr sz="1600">
                <a:solidFill>
                  <a:srgbClr val="334155"/>
                </a:solidFill>
                <a:latin typeface="Segoe UI"/>
              </a:rPr>
              <a:t>non implémenté ; nécessite un flux continu d'étiquettes réelles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64748B"/>
                </a:solidFill>
                <a:latin typeface="Segoe UI"/>
              </a:rPr>
              <a:t>Intelligent HME Predictive Maintenance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52881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64748B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7316"/>
                </a:solidFill>
                <a:latin typeface="Segoe UI"/>
              </a:rPr>
              <a:t>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1F3A"/>
                </a:solidFill>
                <a:latin typeface="Segoe UI Semibold"/>
              </a:rPr>
              <a:t>Perspectives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54864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600" b="1">
                <a:solidFill>
                  <a:srgbClr val="F97316"/>
                </a:solidFill>
                <a:latin typeface="Segoe UI"/>
              </a:rPr>
              <a:t>▸  </a:t>
            </a:r>
            <a:r>
              <a:rPr sz="1600" b="1">
                <a:solidFill>
                  <a:srgbClr val="334155"/>
                </a:solidFill>
                <a:latin typeface="Segoe UI"/>
              </a:rPr>
              <a:t>Données réelles — </a:t>
            </a:r>
            <a:r>
              <a:rPr sz="1600">
                <a:solidFill>
                  <a:srgbClr val="334155"/>
                </a:solidFill>
                <a:latin typeface="Segoe UI"/>
              </a:rPr>
              <a:t>reconnecter le pipeline à un flux de télémétrie réel d'un site minier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600" b="1">
                <a:solidFill>
                  <a:srgbClr val="F97316"/>
                </a:solidFill>
                <a:latin typeface="Segoe UI"/>
              </a:rPr>
              <a:t>▸  </a:t>
            </a:r>
            <a:r>
              <a:rPr sz="1600" b="1">
                <a:solidFill>
                  <a:srgbClr val="334155"/>
                </a:solidFill>
                <a:latin typeface="Segoe UI"/>
              </a:rPr>
              <a:t>Capteurs enrichis — </a:t>
            </a:r>
            <a:r>
              <a:rPr sz="1600">
                <a:solidFill>
                  <a:srgbClr val="334155"/>
                </a:solidFill>
                <a:latin typeface="Segoe UI"/>
              </a:rPr>
              <a:t>niveau d'huile, courant électrique, données GPS de charge utile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600" b="1">
                <a:solidFill>
                  <a:srgbClr val="F97316"/>
                </a:solidFill>
                <a:latin typeface="Segoe UI"/>
              </a:rPr>
              <a:t>▸  </a:t>
            </a:r>
            <a:r>
              <a:rPr sz="1600" b="1">
                <a:solidFill>
                  <a:srgbClr val="334155"/>
                </a:solidFill>
                <a:latin typeface="Segoe UI"/>
              </a:rPr>
              <a:t>Concept drift — </a:t>
            </a:r>
            <a:r>
              <a:rPr sz="1600">
                <a:solidFill>
                  <a:srgbClr val="334155"/>
                </a:solidFill>
                <a:latin typeface="Segoe UI"/>
              </a:rPr>
              <a:t>surveillance de la relation capteurs → panne dans le temps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600" b="1">
                <a:solidFill>
                  <a:srgbClr val="F97316"/>
                </a:solidFill>
                <a:latin typeface="Segoe UI"/>
              </a:rPr>
              <a:t>▸  </a:t>
            </a:r>
            <a:r>
              <a:rPr sz="1600" b="1">
                <a:solidFill>
                  <a:srgbClr val="334155"/>
                </a:solidFill>
                <a:latin typeface="Segoe UI"/>
              </a:rPr>
              <a:t>Infrastructure — </a:t>
            </a:r>
            <a:r>
              <a:rPr sz="1600">
                <a:solidFill>
                  <a:srgbClr val="334155"/>
                </a:solidFill>
                <a:latin typeface="Segoe UI"/>
              </a:rPr>
              <a:t>PostgreSQL, déploiement conteneurisé validé, orchestration renforcée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64748B"/>
                </a:solidFill>
                <a:latin typeface="Segoe UI"/>
              </a:rPr>
              <a:t>Intelligent HME Predictive Maintenance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52881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64748B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7316"/>
                </a:solidFill>
                <a:latin typeface="Segoe UI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1F3A"/>
                </a:solidFill>
                <a:latin typeface="Segoe UI Semibold"/>
              </a:rPr>
              <a:t>Une base solide, prête pour des données réelles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54864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103327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600" b="1">
                <a:solidFill>
                  <a:srgbClr val="F97316"/>
                </a:solidFill>
                <a:latin typeface="Segoe UI"/>
              </a:rPr>
              <a:t>▸  </a:t>
            </a:r>
            <a:r>
              <a:rPr sz="1600">
                <a:solidFill>
                  <a:srgbClr val="334155"/>
                </a:solidFill>
                <a:latin typeface="Segoe UI"/>
              </a:rPr>
              <a:t>Architecture logicielle complète et réutilisable (MVC, API REST, MLOps léger)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600" b="1">
                <a:solidFill>
                  <a:srgbClr val="F97316"/>
                </a:solidFill>
                <a:latin typeface="Segoe UI"/>
              </a:rPr>
              <a:t>▸  </a:t>
            </a:r>
            <a:r>
              <a:rPr sz="1600">
                <a:solidFill>
                  <a:srgbClr val="334155"/>
                </a:solidFill>
                <a:latin typeface="Segoe UI"/>
              </a:rPr>
              <a:t>Chaîne de traitement rigoureuse : données → features → AutoML → explicabilité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600" b="1">
                <a:solidFill>
                  <a:srgbClr val="F97316"/>
                </a:solidFill>
                <a:latin typeface="Segoe UI"/>
              </a:rPr>
              <a:t>▸  </a:t>
            </a:r>
            <a:r>
              <a:rPr sz="1600">
                <a:solidFill>
                  <a:srgbClr val="334155"/>
                </a:solidFill>
                <a:latin typeface="Segoe UI"/>
              </a:rPr>
              <a:t>La rigueur scientifique a permis de détecter une limite du dataset plutôt que de la masquer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600" b="1">
                <a:solidFill>
                  <a:srgbClr val="F97316"/>
                </a:solidFill>
                <a:latin typeface="Segoe UI"/>
              </a:rPr>
              <a:t>▸  </a:t>
            </a:r>
            <a:r>
              <a:rPr sz="1600">
                <a:solidFill>
                  <a:srgbClr val="334155"/>
                </a:solidFill>
                <a:latin typeface="Segoe UI"/>
              </a:rPr>
              <a:t>Prêt pour un déploiement réel dès qu'un signal prédictif authentique est disponible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257800"/>
            <a:ext cx="10332720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5257800"/>
            <a:ext cx="96012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1">
                <a:solidFill>
                  <a:srgbClr val="FFFFFF"/>
                </a:solidFill>
                <a:latin typeface="Segoe UI"/>
              </a:rPr>
              <a:t>Un système, une méthode, une leçon scientifique.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64748B"/>
                </a:solidFill>
                <a:latin typeface="Segoe UI"/>
              </a:rPr>
              <a:t>Intelligent HME Predictive Maintenance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2881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64748B"/>
                </a:solidFill>
                <a:latin typeface="Segoe U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651760"/>
            <a:ext cx="121916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Segoe UI Semibold"/>
              </a:rPr>
              <a:t>Merci de votre attention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749039"/>
            <a:ext cx="121916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 i="1">
                <a:solidFill>
                  <a:srgbClr val="F97316"/>
                </a:solidFill>
                <a:latin typeface="Segoe UI"/>
              </a:rPr>
              <a:t>Questions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9CA8C0"/>
                </a:solidFill>
                <a:latin typeface="Segoe UI"/>
              </a:rPr>
              <a:t>Intelligent HME Predictive Maintenance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52881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9CA8C0"/>
                </a:solidFill>
                <a:latin typeface="Segoe UI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